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9"/>
  </p:normalViewPr>
  <p:slideViewPr>
    <p:cSldViewPr snapToGrid="0" snapToObjects="1">
      <p:cViewPr varScale="1">
        <p:scale>
          <a:sx n="104" d="100"/>
          <a:sy n="104" d="100"/>
        </p:scale>
        <p:origin x="80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0706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he_618_Circle_HIRES_4096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616" y="320040"/>
            <a:ext cx="6416864" cy="6217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6692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D7AA58"/>
                </a:solidFill>
                <a:latin typeface="Georgia"/>
              </a:rPr>
              <a:t>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0">
                <a:solidFill>
                  <a:srgbClr val="EFCA7C"/>
                </a:solidFill>
                <a:latin typeface="Georgia"/>
              </a:rPr>
              <a:t>618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FCA7C"/>
                </a:solidFill>
                <a:latin typeface="Georgia"/>
              </a:rPr>
              <a:t>CIRCLE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12848"/>
            <a:ext cx="3291840" cy="18288"/>
          </a:xfrm>
          <a:prstGeom prst="rect">
            <a:avLst/>
          </a:prstGeom>
          <a:solidFill>
            <a:srgbClr val="D7A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487168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0">
                <a:solidFill>
                  <a:srgbClr val="F4EBD9"/>
                </a:solidFill>
                <a:latin typeface="Georgia"/>
              </a:rPr>
              <a:t>FOUNDING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5577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4EBD9"/>
                </a:solidFill>
                <a:latin typeface="Aptos"/>
              </a:rPr>
              <a:t>An invitation to see the structure — and help shape what comes next.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57800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FCA7C"/>
                </a:solidFill>
                <a:latin typeface="Georgia"/>
              </a:rPr>
              <a:t>£461.80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06440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8A584"/>
                </a:solidFill>
                <a:latin typeface="Aptos"/>
              </a:rPr>
              <a:t>KNOWLEDGE  •  DISCIPLINE  •  FREEDOM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0706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D7AA58"/>
                </a:solidFill>
                <a:latin typeface="Aptos"/>
              </a:rPr>
              <a:t>01 • WHY WE EXIST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6675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EFCA7C"/>
                </a:solidFill>
                <a:latin typeface="Georgia"/>
              </a:rPr>
              <a:t>Markets are full of noise.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B8A584"/>
                </a:solidFill>
                <a:latin typeface="Aptos"/>
              </a:rPr>
              <a:t>The Circle exists to teach people how to recognise the structure beneath it.</a:t>
            </a:r>
          </a:p>
        </p:txBody>
      </p:sp>
      <p:pic>
        <p:nvPicPr>
          <p:cNvPr id="6" name="Picture 5" descr="c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07608" y="0"/>
            <a:ext cx="1005840" cy="6858000"/>
          </a:xfrm>
          <a:prstGeom prst="rect">
            <a:avLst/>
          </a:prstGeom>
          <a:solidFill>
            <a:srgbClr val="0706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8521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EFCA7C"/>
                </a:solidFill>
                <a:latin typeface="Georgia"/>
              </a:rPr>
              <a:t>We do not create followers.
We develop thinkers.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64408"/>
            <a:ext cx="5212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4EBD9"/>
                </a:solidFill>
                <a:latin typeface="Aptos"/>
              </a:rPr>
              <a:t>Knowledge before execution.
Discipline before emotion.
Process before outcome.
Risk before reward.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212080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FCA7C"/>
                </a:solidFill>
                <a:latin typeface="Georgia"/>
              </a:rPr>
              <a:t>SEE THE STRUCTURE.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9672"/>
            <a:ext cx="1828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50" b="1">
                <a:solidFill>
                  <a:srgbClr val="B8A584"/>
                </a:solidFill>
                <a:latin typeface="Aptos"/>
              </a:rPr>
              <a:t>THE 618 CIRCLE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6519672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550" b="1">
                <a:solidFill>
                  <a:srgbClr val="B8A584"/>
                </a:solidFill>
                <a:latin typeface="Aptos"/>
              </a:rPr>
              <a:t>SEE THE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0706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D7AA58"/>
                </a:solidFill>
                <a:latin typeface="Aptos"/>
              </a:rPr>
              <a:t>02 • WHAT MAKES THIS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6675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EFCA7C"/>
                </a:solidFill>
                <a:latin typeface="Georgia"/>
              </a:rPr>
              <a:t>Not another trading course.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B8A584"/>
                </a:solidFill>
                <a:latin typeface="Aptos"/>
              </a:rPr>
              <a:t>A premium learning circle built around standards, belonging and independent thinking.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3429000" cy="2423160"/>
          </a:xfrm>
          <a:prstGeom prst="rect">
            <a:avLst/>
          </a:prstGeom>
          <a:solidFill>
            <a:srgbClr val="120F0B"/>
          </a:solidFill>
          <a:ln>
            <a:solidFill>
              <a:srgbClr val="463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2103120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D7AA58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50008"/>
            <a:ext cx="3063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FCA7C"/>
                </a:solidFill>
                <a:latin typeface="Georgia"/>
              </a:rPr>
              <a:t>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770632"/>
            <a:ext cx="3063240" cy="1463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4EBD9"/>
                </a:solidFill>
                <a:latin typeface="Aptos"/>
              </a:rPr>
              <a:t>Structured learning instead of fragmented clips, tips and noise.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965960"/>
            <a:ext cx="3429000" cy="2423160"/>
          </a:xfrm>
          <a:prstGeom prst="rect">
            <a:avLst/>
          </a:prstGeom>
          <a:solidFill>
            <a:srgbClr val="120F0B"/>
          </a:solidFill>
          <a:ln>
            <a:solidFill>
              <a:srgbClr val="463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2103120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D7AA58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50008"/>
            <a:ext cx="3063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FCA7C"/>
                </a:solidFill>
                <a:latin typeface="Georgia"/>
              </a:rPr>
              <a:t>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70632"/>
            <a:ext cx="3063240" cy="1463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4EBD9"/>
                </a:solidFill>
                <a:latin typeface="Aptos"/>
              </a:rPr>
              <a:t>A process-led culture where risk and behaviour matter as much as analysis.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965960"/>
            <a:ext cx="3429000" cy="2423160"/>
          </a:xfrm>
          <a:prstGeom prst="rect">
            <a:avLst/>
          </a:prstGeom>
          <a:solidFill>
            <a:srgbClr val="120F0B"/>
          </a:solidFill>
          <a:ln>
            <a:solidFill>
              <a:srgbClr val="463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2103120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D7AA58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50008"/>
            <a:ext cx="3063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FCA7C"/>
                </a:solidFill>
                <a:latin typeface="Georgia"/>
              </a:rPr>
              <a:t>COMMUNITY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70632"/>
            <a:ext cx="3063240" cy="1463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4EBD9"/>
                </a:solidFill>
                <a:latin typeface="Aptos"/>
              </a:rPr>
              <a:t>Members progress together — with shared language, standards and identity.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074920"/>
            <a:ext cx="7589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EFCA7C"/>
                </a:solidFill>
                <a:latin typeface="Georgia"/>
              </a:rPr>
              <a:t>Quiet luxury. Serious learning. Zero hype.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9672"/>
            <a:ext cx="1828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50" b="1">
                <a:solidFill>
                  <a:srgbClr val="B8A584"/>
                </a:solidFill>
                <a:latin typeface="Aptos"/>
              </a:rPr>
              <a:t>THE 618 CIRCLE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6519672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550" b="1">
                <a:solidFill>
                  <a:srgbClr val="B8A584"/>
                </a:solidFill>
                <a:latin typeface="Aptos"/>
              </a:rPr>
              <a:t>SEE THE 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0706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D7AA58"/>
                </a:solidFill>
                <a:latin typeface="Aptos"/>
              </a:rPr>
              <a:t>03 • THE 618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6675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EFCA7C"/>
                </a:solidFill>
                <a:latin typeface="Georgia"/>
              </a:rPr>
              <a:t>A number with a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B8A584"/>
                </a:solidFill>
                <a:latin typeface="Aptos"/>
              </a:rPr>
              <a:t>618 gives the brand its recognisable mathematical and market-language anchor.</a:t>
            </a:r>
          </a:p>
        </p:txBody>
      </p:sp>
      <p:pic>
        <p:nvPicPr>
          <p:cNvPr id="6" name="Picture 5" descr="p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57200"/>
            <a:ext cx="4873752" cy="5760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828800"/>
            <a:ext cx="2743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0">
                <a:solidFill>
                  <a:srgbClr val="EFCA7C"/>
                </a:solidFill>
                <a:latin typeface="Georgia"/>
              </a:rPr>
              <a:t>0.618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60320"/>
            <a:ext cx="6126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4EBD9"/>
                </a:solidFill>
                <a:latin typeface="Aptos"/>
              </a:rPr>
              <a:t>The Fibonacci / golden-ratio relationship is recognised by traders as a symbol of proportion, structure and pattern.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840480"/>
            <a:ext cx="2743200" cy="1417320"/>
          </a:xfrm>
          <a:prstGeom prst="rect">
            <a:avLst/>
          </a:prstGeom>
          <a:solidFill>
            <a:srgbClr val="120F0B"/>
          </a:solidFill>
          <a:ln>
            <a:solidFill>
              <a:srgbClr val="463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4224528"/>
            <a:ext cx="2377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FCA7C"/>
                </a:solidFill>
                <a:latin typeface="Georgia"/>
              </a:rPr>
              <a:t>6 PILLARS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4645152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4EBD9"/>
                </a:solidFill>
                <a:latin typeface="Aptos"/>
              </a:rPr>
              <a:t>Structure • Liquidity • Location • Timing • Risk • Execution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3840480"/>
            <a:ext cx="2743200" cy="1417320"/>
          </a:xfrm>
          <a:prstGeom prst="rect">
            <a:avLst/>
          </a:prstGeom>
          <a:solidFill>
            <a:srgbClr val="120F0B"/>
          </a:solidFill>
          <a:ln>
            <a:solidFill>
              <a:srgbClr val="463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94760" y="4224528"/>
            <a:ext cx="2377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FCA7C"/>
                </a:solidFill>
                <a:latin typeface="Georgia"/>
              </a:rPr>
              <a:t>1 PRINCIPLE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645152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4EBD9"/>
                </a:solidFill>
                <a:latin typeface="Aptos"/>
              </a:rPr>
              <a:t>Protect capital.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440680"/>
            <a:ext cx="5696712" cy="685800"/>
          </a:xfrm>
          <a:prstGeom prst="rect">
            <a:avLst/>
          </a:prstGeom>
          <a:solidFill>
            <a:srgbClr val="120F0B"/>
          </a:solidFill>
          <a:ln>
            <a:solidFill>
              <a:srgbClr val="463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5824728"/>
            <a:ext cx="53309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FCA7C"/>
                </a:solidFill>
                <a:latin typeface="Georgia"/>
              </a:rPr>
              <a:t>8 EXECUTION STANDARDS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6245352"/>
            <a:ext cx="5330952" cy="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4EBD9"/>
                </a:solidFill>
                <a:latin typeface="Aptos"/>
              </a:rPr>
              <a:t>Defined from the real trading process — not invented to fit the number.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1828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50" b="1">
                <a:solidFill>
                  <a:srgbClr val="B8A584"/>
                </a:solidFill>
                <a:latin typeface="Aptos"/>
              </a:rPr>
              <a:t>THE 618 CIRCLE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6519672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550" b="1">
                <a:solidFill>
                  <a:srgbClr val="B8A584"/>
                </a:solidFill>
                <a:latin typeface="Aptos"/>
              </a:rPr>
              <a:t>SEE THE 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0706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D7AA58"/>
                </a:solidFill>
                <a:latin typeface="Aptos"/>
              </a:rPr>
              <a:t>04 • 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6675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EFCA7C"/>
                </a:solidFill>
                <a:latin typeface="Georgia"/>
              </a:rPr>
              <a:t>From information to independence.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B8A584"/>
                </a:solidFill>
                <a:latin typeface="Aptos"/>
              </a:rPr>
              <a:t>The destination is better judgement — not dependence on somebody else's trades.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148840"/>
            <a:ext cx="438912" cy="438912"/>
          </a:xfrm>
          <a:prstGeom prst="ellipse">
            <a:avLst/>
          </a:prstGeom>
          <a:noFill/>
          <a:ln>
            <a:solidFill>
              <a:srgbClr val="D7A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221992"/>
            <a:ext cx="43891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EFCA7C"/>
                </a:solidFill>
                <a:latin typeface="Aptos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3271" y="2359152"/>
            <a:ext cx="1481328" cy="13716"/>
          </a:xfrm>
          <a:prstGeom prst="rect">
            <a:avLst/>
          </a:prstGeom>
          <a:solidFill>
            <a:srgbClr val="D7A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EFCA7C"/>
                </a:solidFill>
                <a:latin typeface="Aptos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3154680"/>
            <a:ext cx="1645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F4EBD9"/>
                </a:solidFill>
                <a:latin typeface="Aptos"/>
              </a:rPr>
              <a:t>Understand the principles.</a:t>
            </a:r>
          </a:p>
        </p:txBody>
      </p:sp>
      <p:sp>
        <p:nvSpPr>
          <p:cNvPr id="11" name="Oval 10"/>
          <p:cNvSpPr/>
          <p:nvPr/>
        </p:nvSpPr>
        <p:spPr>
          <a:xfrm>
            <a:off x="2514600" y="2148840"/>
            <a:ext cx="438912" cy="438912"/>
          </a:xfrm>
          <a:prstGeom prst="ellipse">
            <a:avLst/>
          </a:prstGeom>
          <a:noFill/>
          <a:ln>
            <a:solidFill>
              <a:srgbClr val="D7A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14600" y="2221992"/>
            <a:ext cx="43891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EFCA7C"/>
                </a:solidFill>
                <a:latin typeface="Aptos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3512" y="2359152"/>
            <a:ext cx="1481328" cy="13716"/>
          </a:xfrm>
          <a:prstGeom prst="rect">
            <a:avLst/>
          </a:prstGeom>
          <a:solidFill>
            <a:srgbClr val="D7A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23160" y="2788920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EFCA7C"/>
                </a:solidFill>
                <a:latin typeface="Aptos"/>
              </a:rPr>
              <a:t>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3432" y="3154680"/>
            <a:ext cx="1645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F4EBD9"/>
                </a:solidFill>
                <a:latin typeface="Aptos"/>
              </a:rPr>
              <a:t>Build the foundations.</a:t>
            </a:r>
          </a:p>
        </p:txBody>
      </p:sp>
      <p:sp>
        <p:nvSpPr>
          <p:cNvPr id="16" name="Oval 15"/>
          <p:cNvSpPr/>
          <p:nvPr/>
        </p:nvSpPr>
        <p:spPr>
          <a:xfrm>
            <a:off x="4434840" y="2148840"/>
            <a:ext cx="438912" cy="438912"/>
          </a:xfrm>
          <a:prstGeom prst="ellipse">
            <a:avLst/>
          </a:prstGeom>
          <a:noFill/>
          <a:ln>
            <a:solidFill>
              <a:srgbClr val="D7A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2221992"/>
            <a:ext cx="43891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EFCA7C"/>
                </a:solidFill>
                <a:latin typeface="Apto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3752" y="2359152"/>
            <a:ext cx="1481328" cy="13716"/>
          </a:xfrm>
          <a:prstGeom prst="rect">
            <a:avLst/>
          </a:prstGeom>
          <a:solidFill>
            <a:srgbClr val="D7A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400" y="2788920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EFCA7C"/>
                </a:solidFill>
                <a:latin typeface="Aptos"/>
              </a:rPr>
              <a:t>PRACTISE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3672" y="3154680"/>
            <a:ext cx="1645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F4EBD9"/>
                </a:solidFill>
                <a:latin typeface="Aptos"/>
              </a:rPr>
              <a:t>Apply the framework.</a:t>
            </a:r>
          </a:p>
        </p:txBody>
      </p:sp>
      <p:sp>
        <p:nvSpPr>
          <p:cNvPr id="21" name="Oval 20"/>
          <p:cNvSpPr/>
          <p:nvPr/>
        </p:nvSpPr>
        <p:spPr>
          <a:xfrm>
            <a:off x="6355080" y="2148840"/>
            <a:ext cx="438912" cy="438912"/>
          </a:xfrm>
          <a:prstGeom prst="ellipse">
            <a:avLst/>
          </a:prstGeom>
          <a:noFill/>
          <a:ln>
            <a:solidFill>
              <a:srgbClr val="D7A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2221992"/>
            <a:ext cx="43891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EFCA7C"/>
                </a:solidFill>
                <a:latin typeface="Aptos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93992" y="2359152"/>
            <a:ext cx="1481328" cy="13716"/>
          </a:xfrm>
          <a:prstGeom prst="rect">
            <a:avLst/>
          </a:prstGeom>
          <a:solidFill>
            <a:srgbClr val="D7A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2788920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EFCA7C"/>
                </a:solidFill>
                <a:latin typeface="Aptos"/>
              </a:rPr>
              <a:t>DOCUMENT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3154680"/>
            <a:ext cx="1645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F4EBD9"/>
                </a:solidFill>
                <a:latin typeface="Aptos"/>
              </a:rPr>
              <a:t>Journal and review.</a:t>
            </a:r>
          </a:p>
        </p:txBody>
      </p:sp>
      <p:sp>
        <p:nvSpPr>
          <p:cNvPr id="26" name="Oval 25"/>
          <p:cNvSpPr/>
          <p:nvPr/>
        </p:nvSpPr>
        <p:spPr>
          <a:xfrm>
            <a:off x="8275320" y="2148840"/>
            <a:ext cx="438912" cy="438912"/>
          </a:xfrm>
          <a:prstGeom prst="ellipse">
            <a:avLst/>
          </a:prstGeom>
          <a:noFill/>
          <a:ln>
            <a:solidFill>
              <a:srgbClr val="D7A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20" y="2221992"/>
            <a:ext cx="43891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EFCA7C"/>
                </a:solidFill>
                <a:latin typeface="Aptos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14232" y="2359152"/>
            <a:ext cx="1481328" cy="13716"/>
          </a:xfrm>
          <a:prstGeom prst="rect">
            <a:avLst/>
          </a:prstGeom>
          <a:solidFill>
            <a:srgbClr val="D7A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83880" y="2788920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EFCA7C"/>
                </a:solidFill>
                <a:latin typeface="Aptos"/>
              </a:rPr>
              <a:t>PROGRESS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4152" y="3154680"/>
            <a:ext cx="1645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F4EBD9"/>
                </a:solidFill>
                <a:latin typeface="Aptos"/>
              </a:rPr>
              <a:t>Refine behaviour.</a:t>
            </a:r>
          </a:p>
        </p:txBody>
      </p:sp>
      <p:sp>
        <p:nvSpPr>
          <p:cNvPr id="31" name="Oval 30"/>
          <p:cNvSpPr/>
          <p:nvPr/>
        </p:nvSpPr>
        <p:spPr>
          <a:xfrm>
            <a:off x="10195560" y="2148840"/>
            <a:ext cx="438912" cy="438912"/>
          </a:xfrm>
          <a:prstGeom prst="ellipse">
            <a:avLst/>
          </a:prstGeom>
          <a:noFill/>
          <a:ln>
            <a:solidFill>
              <a:srgbClr val="D7A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95560" y="2221992"/>
            <a:ext cx="43891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EFCA7C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2788920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EFCA7C"/>
                </a:solidFill>
                <a:latin typeface="Aptos"/>
              </a:rPr>
              <a:t>BELONG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94392" y="3154680"/>
            <a:ext cx="1645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F4EBD9"/>
                </a:solidFill>
                <a:latin typeface="Aptos"/>
              </a:rPr>
              <a:t>Contribute to the Circle.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12064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EFCA7C"/>
                </a:solidFill>
                <a:latin typeface="Georgia"/>
              </a:rPr>
              <a:t>The aim is not "more signals". It is better judgement.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9672"/>
            <a:ext cx="1828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50" b="1">
                <a:solidFill>
                  <a:srgbClr val="B8A584"/>
                </a:solidFill>
                <a:latin typeface="Aptos"/>
              </a:rPr>
              <a:t>THE 618 CIRCLE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6519672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550" b="1">
                <a:solidFill>
                  <a:srgbClr val="B8A584"/>
                </a:solidFill>
                <a:latin typeface="Aptos"/>
              </a:rPr>
              <a:t>SEE THE 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0706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D7AA58"/>
                </a:solidFill>
                <a:latin typeface="Aptos"/>
              </a:rPr>
              <a:t>05 • THE FOUNDING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6675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EFCA7C"/>
                </a:solidFill>
                <a:latin typeface="Georgia"/>
              </a:rPr>
              <a:t>What membership is built around.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B8A584"/>
                </a:solidFill>
                <a:latin typeface="Aptos"/>
              </a:rPr>
              <a:t>A deliberately focused ecosystem — education, live learning, reflection and community.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1600200"/>
          </a:xfrm>
          <a:prstGeom prst="rect">
            <a:avLst/>
          </a:prstGeom>
          <a:solidFill>
            <a:srgbClr val="120F0B"/>
          </a:solidFill>
          <a:ln>
            <a:solidFill>
              <a:srgbClr val="463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212848"/>
            <a:ext cx="3063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FCA7C"/>
                </a:solidFill>
                <a:latin typeface="Georgia"/>
              </a:rPr>
              <a:t>THE 618 PROGRAMME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33472"/>
            <a:ext cx="3063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4EBD9"/>
                </a:solidFill>
                <a:latin typeface="Aptos"/>
              </a:rPr>
              <a:t>Flagship structured education built around the 618 framework.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828800"/>
            <a:ext cx="3429000" cy="1600200"/>
          </a:xfrm>
          <a:prstGeom prst="rect">
            <a:avLst/>
          </a:prstGeom>
          <a:solidFill>
            <a:srgbClr val="120F0B"/>
          </a:solidFill>
          <a:ln>
            <a:solidFill>
              <a:srgbClr val="463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212848"/>
            <a:ext cx="3063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FCA7C"/>
                </a:solidFill>
                <a:latin typeface="Georgia"/>
              </a:rPr>
              <a:t>THE TRADING FLOOR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33472"/>
            <a:ext cx="3063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4EBD9"/>
                </a:solidFill>
                <a:latin typeface="Aptos"/>
              </a:rPr>
              <a:t>Live educational sessions for analysis, process and review.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828800"/>
            <a:ext cx="3429000" cy="1600200"/>
          </a:xfrm>
          <a:prstGeom prst="rect">
            <a:avLst/>
          </a:prstGeom>
          <a:solidFill>
            <a:srgbClr val="120F0B"/>
          </a:solidFill>
          <a:ln>
            <a:solidFill>
              <a:srgbClr val="463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2212848"/>
            <a:ext cx="3063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FCA7C"/>
                </a:solidFill>
                <a:latin typeface="Georgia"/>
              </a:rPr>
              <a:t>THE 618 BRIEFING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33472"/>
            <a:ext cx="3063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4EBD9"/>
                </a:solidFill>
                <a:latin typeface="Aptos"/>
              </a:rPr>
              <a:t>Recurring market-education commentary and structured preparation.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86200"/>
            <a:ext cx="3429000" cy="1600200"/>
          </a:xfrm>
          <a:prstGeom prst="rect">
            <a:avLst/>
          </a:prstGeom>
          <a:solidFill>
            <a:srgbClr val="120F0B"/>
          </a:solidFill>
          <a:ln>
            <a:solidFill>
              <a:srgbClr val="463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4270248"/>
            <a:ext cx="3063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FCA7C"/>
                </a:solidFill>
                <a:latin typeface="Georgia"/>
              </a:rPr>
              <a:t>618 JOURNAL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690872"/>
            <a:ext cx="3063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4EBD9"/>
                </a:solidFill>
                <a:latin typeface="Aptos"/>
              </a:rPr>
              <a:t>A process tool for planning, reflection, review and accountability.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3886200"/>
            <a:ext cx="3429000" cy="1600200"/>
          </a:xfrm>
          <a:prstGeom prst="rect">
            <a:avLst/>
          </a:prstGeom>
          <a:solidFill>
            <a:srgbClr val="120F0B"/>
          </a:solidFill>
          <a:ln>
            <a:solidFill>
              <a:srgbClr val="463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720" y="4270248"/>
            <a:ext cx="3063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FCA7C"/>
                </a:solidFill>
                <a:latin typeface="Georgia"/>
              </a:rPr>
              <a:t>THE CIRCLE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690872"/>
            <a:ext cx="3063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4EBD9"/>
                </a:solidFill>
                <a:latin typeface="Aptos"/>
              </a:rPr>
              <a:t>Private member community centred on standards and development.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886200"/>
            <a:ext cx="3429000" cy="1600200"/>
          </a:xfrm>
          <a:prstGeom prst="rect">
            <a:avLst/>
          </a:prstGeom>
          <a:solidFill>
            <a:srgbClr val="120F0B"/>
          </a:solidFill>
          <a:ln>
            <a:solidFill>
              <a:srgbClr val="463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4270248"/>
            <a:ext cx="3063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FCA7C"/>
                </a:solidFill>
                <a:latin typeface="Georgia"/>
              </a:rPr>
              <a:t>MEMBER PROGRESSION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690872"/>
            <a:ext cx="3063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4EBD9"/>
                </a:solidFill>
                <a:latin typeface="Aptos"/>
              </a:rPr>
              <a:t>Milestones based on learning and process — not profit promises.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1828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50" b="1">
                <a:solidFill>
                  <a:srgbClr val="B8A584"/>
                </a:solidFill>
                <a:latin typeface="Aptos"/>
              </a:rPr>
              <a:t>THE 618 CIRCLE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6519672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550" b="1">
                <a:solidFill>
                  <a:srgbClr val="B8A584"/>
                </a:solidFill>
                <a:latin typeface="Aptos"/>
              </a:rPr>
              <a:t>SEE THE STRUCTURE.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0706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D7AA58"/>
                </a:solidFill>
                <a:latin typeface="Aptos"/>
              </a:rPr>
              <a:t>06 • THE FOUNDING 618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6675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EFCA7C"/>
                </a:solidFill>
                <a:latin typeface="Georgia"/>
              </a:rPr>
              <a:t>The first chapter is finite.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B8A584"/>
                </a:solidFill>
                <a:latin typeface="Aptos"/>
              </a:rPr>
              <a:t>The first 618 qualifying members become part of the brand's permanent origin story.</a:t>
            </a:r>
          </a:p>
        </p:txBody>
      </p:sp>
      <p:pic>
        <p:nvPicPr>
          <p:cNvPr id="6" name="Picture 5" descr="jour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417320"/>
            <a:ext cx="38862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920240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0">
                <a:solidFill>
                  <a:srgbClr val="EFCA7C"/>
                </a:solidFill>
                <a:latin typeface="Georgia"/>
              </a:rPr>
              <a:t>0001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920240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0">
                <a:solidFill>
                  <a:srgbClr val="EFCA7C"/>
                </a:solidFill>
                <a:latin typeface="Georgia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920240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0">
                <a:solidFill>
                  <a:srgbClr val="EFCA7C"/>
                </a:solidFill>
                <a:latin typeface="Georgia"/>
              </a:rPr>
              <a:t>0618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97480"/>
            <a:ext cx="5852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4EBD9"/>
                </a:solidFill>
                <a:latin typeface="Aptos"/>
              </a:rPr>
              <a:t>Founding member numbers are intended to be issued once and never re-used.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79476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EFCA7C"/>
                </a:solidFill>
                <a:latin typeface="Aptos"/>
              </a:rPr>
              <a:t>FOUNDING MEMBER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224528"/>
            <a:ext cx="59436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4EBD9"/>
                </a:solidFill>
                <a:latin typeface="Aptos"/>
              </a:rPr>
              <a:t>• Numbered founding-member identity
• Recognition as part of the first 618
• Access to the founding-era community
• A permanent place in The 618 Circle 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60720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EFCA7C"/>
                </a:solidFill>
                <a:latin typeface="Georgia"/>
              </a:rPr>
              <a:t>Membership should feel earned, remembered and worth belonging 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9672"/>
            <a:ext cx="1828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50" b="1">
                <a:solidFill>
                  <a:srgbClr val="B8A584"/>
                </a:solidFill>
                <a:latin typeface="Aptos"/>
              </a:rPr>
              <a:t>THE 618 CIRCLE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6519672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550" b="1">
                <a:solidFill>
                  <a:srgbClr val="B8A584"/>
                </a:solidFill>
                <a:latin typeface="Aptos"/>
              </a:rPr>
              <a:t>SEE THE 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0706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D7AA58"/>
                </a:solidFill>
                <a:latin typeface="Aptos"/>
              </a:rPr>
              <a:t>07 • FOUNDING MEMBERSHIP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6675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EFCA7C"/>
                </a:solidFill>
                <a:latin typeface="Georgia"/>
              </a:rPr>
              <a:t>£461.80 per month.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B8A584"/>
                </a:solidFill>
                <a:latin typeface="Aptos"/>
              </a:rPr>
              <a:t>The price itself carries the 618 signature — deliberate, memorable and unmistakably ours.</a:t>
            </a:r>
          </a:p>
        </p:txBody>
      </p:sp>
      <p:pic>
        <p:nvPicPr>
          <p:cNvPr id="6" name="Picture 5" descr="off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0"/>
            <a:ext cx="3776472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920240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0">
                <a:solidFill>
                  <a:srgbClr val="EFCA7C"/>
                </a:solidFill>
                <a:latin typeface="Georgia"/>
              </a:rPr>
              <a:t>£461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148840"/>
            <a:ext cx="1005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EFCA7C"/>
                </a:solidFill>
                <a:latin typeface="Georgia"/>
              </a:rPr>
              <a:t>.80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16352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B8A584"/>
                </a:solidFill>
                <a:latin typeface="Aptos"/>
              </a:rPr>
              <a:t>PER 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337560"/>
            <a:ext cx="5120640" cy="18288"/>
          </a:xfrm>
          <a:prstGeom prst="rect">
            <a:avLst/>
          </a:prstGeom>
          <a:solidFill>
            <a:srgbClr val="D7A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3703320"/>
            <a:ext cx="56692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4EBD9"/>
                </a:solidFill>
                <a:latin typeface="Aptos"/>
              </a:rPr>
              <a:t>A premium commitment to structured learning, community and development — not a promise of financial returns.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FCA7C"/>
                </a:solidFill>
                <a:latin typeface="Aptos"/>
              </a:rPr>
              <a:t>WHAT YOU ARE INVESTING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1737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4EBD9"/>
                </a:solidFill>
                <a:latin typeface="Aptos"/>
              </a:rPr>
              <a:t>A learning environment. A process. A community. A higher standard of preparation, review and accountability.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9672"/>
            <a:ext cx="1828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50" b="1">
                <a:solidFill>
                  <a:srgbClr val="B8A584"/>
                </a:solidFill>
                <a:latin typeface="Aptos"/>
              </a:rPr>
              <a:t>THE 618 CIRCLE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6519672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550" b="1">
                <a:solidFill>
                  <a:srgbClr val="B8A584"/>
                </a:solidFill>
                <a:latin typeface="Aptos"/>
              </a:rPr>
              <a:t>SEE THE STRUCTURE.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0706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D7AA58"/>
                </a:solidFill>
                <a:latin typeface="Aptos"/>
              </a:rPr>
              <a:t>08 • 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6675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EFCA7C"/>
                </a:solidFill>
                <a:latin typeface="Georgia"/>
              </a:rPr>
              <a:t>The standard is the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B8A584"/>
                </a:solidFill>
                <a:latin typeface="Aptos"/>
              </a:rPr>
              <a:t>The Circle should feel premium because of how members behave — not because we shout about wealth.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FCA7C"/>
                </a:solidFill>
                <a:latin typeface="Aptos"/>
              </a:rPr>
              <a:t>KNOWLEDGE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2002536"/>
            <a:ext cx="502920" cy="13716"/>
          </a:xfrm>
          <a:prstGeom prst="rect">
            <a:avLst/>
          </a:prstGeom>
          <a:solidFill>
            <a:srgbClr val="D7A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71800" y="1856231"/>
            <a:ext cx="4663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4EBD9"/>
                </a:solidFill>
                <a:latin typeface="Aptos"/>
              </a:rPr>
              <a:t>Curiosity over certainty.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468879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FCA7C"/>
                </a:solidFill>
                <a:latin typeface="Aptos"/>
              </a:rPr>
              <a:t>DISCIPLINE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2596896"/>
            <a:ext cx="502920" cy="13716"/>
          </a:xfrm>
          <a:prstGeom prst="rect">
            <a:avLst/>
          </a:prstGeom>
          <a:solidFill>
            <a:srgbClr val="D7A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71800" y="2450591"/>
            <a:ext cx="4663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4EBD9"/>
                </a:solidFill>
                <a:latin typeface="Aptos"/>
              </a:rPr>
              <a:t>Process over impulse.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063239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FCA7C"/>
                </a:solidFill>
                <a:latin typeface="Aptos"/>
              </a:rPr>
              <a:t>HUMILITY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3191256"/>
            <a:ext cx="502920" cy="13716"/>
          </a:xfrm>
          <a:prstGeom prst="rect">
            <a:avLst/>
          </a:prstGeom>
          <a:solidFill>
            <a:srgbClr val="D7A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1800" y="3044951"/>
            <a:ext cx="4663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4EBD9"/>
                </a:solidFill>
                <a:latin typeface="Aptos"/>
              </a:rPr>
              <a:t>Markets owe us nothing.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657600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FCA7C"/>
                </a:solidFill>
                <a:latin typeface="Aptos"/>
              </a:rPr>
              <a:t>ACCOUNTABILITY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3785615"/>
            <a:ext cx="502920" cy="13716"/>
          </a:xfrm>
          <a:prstGeom prst="rect">
            <a:avLst/>
          </a:prstGeom>
          <a:solidFill>
            <a:srgbClr val="D7A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71800" y="3639312"/>
            <a:ext cx="4663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4EBD9"/>
                </a:solidFill>
                <a:latin typeface="Aptos"/>
              </a:rPr>
              <a:t>Review the decision, not just the result.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251960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FCA7C"/>
                </a:solidFill>
                <a:latin typeface="Aptos"/>
              </a:rPr>
              <a:t>COMMUNITY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4379976"/>
            <a:ext cx="502920" cy="13716"/>
          </a:xfrm>
          <a:prstGeom prst="rect">
            <a:avLst/>
          </a:prstGeom>
          <a:solidFill>
            <a:srgbClr val="D7A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71800" y="4233672"/>
            <a:ext cx="4663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4EBD9"/>
                </a:solidFill>
                <a:latin typeface="Aptos"/>
              </a:rPr>
              <a:t>Raise the standard around you.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846320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FCA7C"/>
                </a:solidFill>
                <a:latin typeface="Aptos"/>
              </a:rPr>
              <a:t>INDEPENDENCE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4974336"/>
            <a:ext cx="502920" cy="13716"/>
          </a:xfrm>
          <a:prstGeom prst="rect">
            <a:avLst/>
          </a:prstGeom>
          <a:solidFill>
            <a:srgbClr val="D7A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71800" y="4828032"/>
            <a:ext cx="4663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4EBD9"/>
                </a:solidFill>
                <a:latin typeface="Aptos"/>
              </a:rPr>
              <a:t>Learn to think for yourself.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1874519"/>
            <a:ext cx="2560320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EFCA7C"/>
                </a:solidFill>
                <a:latin typeface="Georgia"/>
              </a:rPr>
              <a:t>NO HYPE.
NO GUARANTEES.
NO SHORTCUTS.
A HIGHER STANDARD.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1828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50" b="1">
                <a:solidFill>
                  <a:srgbClr val="B8A584"/>
                </a:solidFill>
                <a:latin typeface="Aptos"/>
              </a:rPr>
              <a:t>THE 618 CIRCLE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6519672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550" b="1">
                <a:solidFill>
                  <a:srgbClr val="B8A584"/>
                </a:solidFill>
                <a:latin typeface="Aptos"/>
              </a:rPr>
              <a:t>SEE THE STRUCTURE.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0706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D7AA58"/>
                </a:solidFill>
                <a:latin typeface="Aptos"/>
              </a:rPr>
              <a:t>09 • THE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6675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EFCA7C"/>
                </a:solidFill>
                <a:latin typeface="Georgia"/>
              </a:rPr>
              <a:t>Quiet luxury, made useful.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B8A584"/>
                </a:solidFill>
                <a:latin typeface="Aptos"/>
              </a:rPr>
              <a:t>Premium should improve the member journey — not distract from it.</a:t>
            </a:r>
          </a:p>
        </p:txBody>
      </p:sp>
      <p:pic>
        <p:nvPicPr>
          <p:cNvPr id="6" name="Picture 5" descr="The_618_Circle_HIRES_4096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200"/>
            <a:ext cx="4361688" cy="4526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434840" y="1783080"/>
            <a:ext cx="3154680" cy="1554480"/>
          </a:xfrm>
          <a:prstGeom prst="rect">
            <a:avLst/>
          </a:prstGeom>
          <a:solidFill>
            <a:srgbClr val="120F0B"/>
          </a:solidFill>
          <a:ln>
            <a:solidFill>
              <a:srgbClr val="463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2167128"/>
            <a:ext cx="2788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FCA7C"/>
                </a:solidFill>
                <a:latin typeface="Georgia"/>
              </a:rPr>
              <a:t>MEMBER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587752"/>
            <a:ext cx="278892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4EBD9"/>
                </a:solidFill>
                <a:latin typeface="Aptos"/>
              </a:rPr>
              <a:t>Numbered, restrained and unmistakably 618.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154680" cy="1554480"/>
          </a:xfrm>
          <a:prstGeom prst="rect">
            <a:avLst/>
          </a:prstGeom>
          <a:solidFill>
            <a:srgbClr val="120F0B"/>
          </a:solidFill>
          <a:ln>
            <a:solidFill>
              <a:srgbClr val="463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59" y="2167128"/>
            <a:ext cx="2788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FCA7C"/>
                </a:solidFill>
                <a:latin typeface="Georgia"/>
              </a:rPr>
              <a:t>618 JOURNAL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2587752"/>
            <a:ext cx="278892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4EBD9"/>
                </a:solidFill>
                <a:latin typeface="Aptos"/>
              </a:rPr>
              <a:t>A premium physical/digital ritual for process and reflection.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3749039"/>
            <a:ext cx="3154680" cy="1554480"/>
          </a:xfrm>
          <a:prstGeom prst="rect">
            <a:avLst/>
          </a:prstGeom>
          <a:solidFill>
            <a:srgbClr val="120F0B"/>
          </a:solidFill>
          <a:ln>
            <a:solidFill>
              <a:srgbClr val="463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4133087"/>
            <a:ext cx="2788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FCA7C"/>
                </a:solidFill>
                <a:latin typeface="Georgia"/>
              </a:rPr>
              <a:t>EDITORIAL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553712"/>
            <a:ext cx="278892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4EBD9"/>
                </a:solidFill>
                <a:latin typeface="Aptos"/>
              </a:rPr>
              <a:t>Black, warm ivory and antique-champagne gold.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3749039"/>
            <a:ext cx="3154680" cy="1554480"/>
          </a:xfrm>
          <a:prstGeom prst="rect">
            <a:avLst/>
          </a:prstGeom>
          <a:solidFill>
            <a:srgbClr val="120F0B"/>
          </a:solidFill>
          <a:ln>
            <a:solidFill>
              <a:srgbClr val="463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59" y="4133087"/>
            <a:ext cx="2788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FCA7C"/>
                </a:solidFill>
                <a:latin typeface="Georgia"/>
              </a:rPr>
              <a:t>GLOBAL STANDARD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4553712"/>
            <a:ext cx="278892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4EBD9"/>
                </a:solidFill>
                <a:latin typeface="Aptos"/>
              </a:rPr>
              <a:t>A brand designed to feel at home in the world's financial centres.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9672"/>
            <a:ext cx="1828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50" b="1">
                <a:solidFill>
                  <a:srgbClr val="B8A584"/>
                </a:solidFill>
                <a:latin typeface="Aptos"/>
              </a:rPr>
              <a:t>THE 618 CIRCLE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6519672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550" b="1">
                <a:solidFill>
                  <a:srgbClr val="B8A584"/>
                </a:solidFill>
                <a:latin typeface="Aptos"/>
              </a:rPr>
              <a:t>SEE THE STRUCTURE.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0706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D7AA58"/>
                </a:solidFill>
                <a:latin typeface="Aptos"/>
              </a:rPr>
              <a:t>10 • A RHYTHM, NOT A RUSH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6675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EFCA7C"/>
                </a:solidFill>
                <a:latin typeface="Georgia"/>
              </a:rPr>
              <a:t>The Circle is built around repeatable habits.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B8A584"/>
                </a:solidFill>
                <a:latin typeface="Aptos"/>
              </a:rPr>
              <a:t>An example of how the member experience can reinforce preparation, execution and review.</a:t>
            </a:r>
          </a:p>
        </p:txBody>
      </p:sp>
      <p:pic>
        <p:nvPicPr>
          <p:cNvPr id="6" name="Picture 5" descr="commun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0952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9202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FCA7C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EFCA7C"/>
                </a:solidFill>
                <a:latin typeface="Aptos"/>
              </a:rPr>
              <a:t>PREPARE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04288"/>
            <a:ext cx="1600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EBD9"/>
                </a:solidFill>
                <a:latin typeface="Aptos"/>
              </a:rPr>
              <a:t>Briefing • context • 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19202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FCA7C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920240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EFCA7C"/>
                </a:solidFill>
                <a:latin typeface="Aptos"/>
              </a:rPr>
              <a:t>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304288"/>
            <a:ext cx="1600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EBD9"/>
                </a:solidFill>
                <a:latin typeface="Aptos"/>
              </a:rPr>
              <a:t>Curriculum • framework • notes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19202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FCA7C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1920240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EFCA7C"/>
                </a:solidFill>
                <a:latin typeface="Aptos"/>
              </a:rP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304288"/>
            <a:ext cx="1600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EBD9"/>
                </a:solidFill>
                <a:latin typeface="Aptos"/>
              </a:rPr>
              <a:t>Wait for conditions, avoid forcing trades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6616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FCA7C"/>
                </a:solidFill>
                <a:latin typeface="Georg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566160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EFCA7C"/>
                </a:solidFill>
                <a:latin typeface="Aptos"/>
              </a:rPr>
              <a:t>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950208"/>
            <a:ext cx="1600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EBD9"/>
                </a:solidFill>
                <a:latin typeface="Aptos"/>
              </a:rPr>
              <a:t>Journal • behaviour • decision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356616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FCA7C"/>
                </a:solidFill>
                <a:latin typeface="Georgia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566160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EFCA7C"/>
                </a:solidFill>
                <a:latin typeface="Aptos"/>
              </a:rPr>
              <a:t>REFINE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950208"/>
            <a:ext cx="1600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EBD9"/>
                </a:solidFill>
                <a:latin typeface="Aptos"/>
              </a:rPr>
              <a:t>Identify one behaviour to improve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440680"/>
            <a:ext cx="6675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EFCA7C"/>
                </a:solidFill>
                <a:latin typeface="Georgia"/>
              </a:rPr>
              <a:t>The aim: fewer impulsive decisions. Better preparation. Better review.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9672"/>
            <a:ext cx="1828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50" b="1">
                <a:solidFill>
                  <a:srgbClr val="B8A584"/>
                </a:solidFill>
                <a:latin typeface="Aptos"/>
              </a:rPr>
              <a:t>THE 618 CIRCLE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519672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550" b="1">
                <a:solidFill>
                  <a:srgbClr val="B8A584"/>
                </a:solidFill>
                <a:latin typeface="Aptos"/>
              </a:rPr>
              <a:t>SEE THE STRUCTURE.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0706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D7AA58"/>
                </a:solidFill>
                <a:latin typeface="Aptos"/>
              </a:rPr>
              <a:t>11 • TRUST IS PART OF THE BRAND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6675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EFCA7C"/>
                </a:solidFill>
                <a:latin typeface="Georgia"/>
              </a:rPr>
              <a:t>We would rather build credibility slowly than hype quickly.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B8A584"/>
                </a:solidFill>
                <a:latin typeface="Aptos"/>
              </a:rPr>
              <a:t>The 618 Circle is education first.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5166360" cy="1097280"/>
          </a:xfrm>
          <a:prstGeom prst="rect">
            <a:avLst/>
          </a:prstGeom>
          <a:solidFill>
            <a:srgbClr val="120F0B"/>
          </a:solidFill>
          <a:ln>
            <a:solidFill>
              <a:srgbClr val="463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167128"/>
            <a:ext cx="4800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FCA7C"/>
                </a:solidFill>
                <a:latin typeface="Georgia"/>
              </a:rPr>
              <a:t>WE TEACH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587752"/>
            <a:ext cx="4800600" cy="1371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4EBD9"/>
                </a:solidFill>
                <a:latin typeface="Aptos"/>
              </a:rPr>
              <a:t>Market concepts, structured analysis, risk thinking, journaling and process.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7" y="1783080"/>
            <a:ext cx="5166360" cy="1097280"/>
          </a:xfrm>
          <a:prstGeom prst="rect">
            <a:avLst/>
          </a:prstGeom>
          <a:solidFill>
            <a:srgbClr val="120F0B"/>
          </a:solidFill>
          <a:ln>
            <a:solidFill>
              <a:srgbClr val="463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2167128"/>
            <a:ext cx="4800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FCA7C"/>
                </a:solidFill>
                <a:latin typeface="Georgia"/>
              </a:rPr>
              <a:t>WE DO NOT PROMISE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587752"/>
            <a:ext cx="4800600" cy="1371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4EBD9"/>
                </a:solidFill>
                <a:latin typeface="Aptos"/>
              </a:rPr>
              <a:t>Guaranteed profits, easy money or certain outcomes.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200400"/>
            <a:ext cx="5166360" cy="1097280"/>
          </a:xfrm>
          <a:prstGeom prst="rect">
            <a:avLst/>
          </a:prstGeom>
          <a:solidFill>
            <a:srgbClr val="120F0B"/>
          </a:solidFill>
          <a:ln>
            <a:solidFill>
              <a:srgbClr val="463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3584448"/>
            <a:ext cx="4800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FCA7C"/>
                </a:solidFill>
                <a:latin typeface="Georgia"/>
              </a:rPr>
              <a:t>WE DISCLOSE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005072"/>
            <a:ext cx="4800600" cy="1371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4EBD9"/>
                </a:solidFill>
                <a:latin typeface="Aptos"/>
              </a:rPr>
              <a:t>Material commercial relationships and relevant conflicts.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7" y="3200400"/>
            <a:ext cx="5166360" cy="1097280"/>
          </a:xfrm>
          <a:prstGeom prst="rect">
            <a:avLst/>
          </a:prstGeom>
          <a:solidFill>
            <a:srgbClr val="120F0B"/>
          </a:solidFill>
          <a:ln>
            <a:solidFill>
              <a:srgbClr val="463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584448"/>
            <a:ext cx="4800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FCA7C"/>
                </a:solidFill>
                <a:latin typeface="Georgia"/>
              </a:rPr>
              <a:t>WE DO NOT PRETEND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005072"/>
            <a:ext cx="4800600" cy="1371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4EBD9"/>
                </a:solidFill>
                <a:latin typeface="Aptos"/>
              </a:rPr>
              <a:t>That one strategy makes markets predictable.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617720"/>
            <a:ext cx="5166360" cy="1097280"/>
          </a:xfrm>
          <a:prstGeom prst="rect">
            <a:avLst/>
          </a:prstGeom>
          <a:solidFill>
            <a:srgbClr val="120F0B"/>
          </a:solidFill>
          <a:ln>
            <a:solidFill>
              <a:srgbClr val="463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5001768"/>
            <a:ext cx="4800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FCA7C"/>
                </a:solidFill>
                <a:latin typeface="Georgia"/>
              </a:rPr>
              <a:t>WE RESPECT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5422392"/>
            <a:ext cx="4800600" cy="1371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4EBD9"/>
                </a:solidFill>
                <a:latin typeface="Aptos"/>
              </a:rPr>
              <a:t>Loss is possible. Education does not remove market risk.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7" y="4617720"/>
            <a:ext cx="5166360" cy="1097280"/>
          </a:xfrm>
          <a:prstGeom prst="rect">
            <a:avLst/>
          </a:prstGeom>
          <a:solidFill>
            <a:srgbClr val="120F0B"/>
          </a:solidFill>
          <a:ln>
            <a:solidFill>
              <a:srgbClr val="463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5001768"/>
            <a:ext cx="4800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FCA7C"/>
                </a:solidFill>
                <a:latin typeface="Georgia"/>
              </a:rPr>
              <a:t>WE DO NOT BUILD DEPENDENCE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5422392"/>
            <a:ext cx="4800600" cy="1371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4EBD9"/>
                </a:solidFill>
                <a:latin typeface="Aptos"/>
              </a:rPr>
              <a:t>The goal is independent decision-making, not permanent copying.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1828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50" b="1">
                <a:solidFill>
                  <a:srgbClr val="B8A584"/>
                </a:solidFill>
                <a:latin typeface="Aptos"/>
              </a:rPr>
              <a:t>THE 618 CIRCLE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6519672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550" b="1">
                <a:solidFill>
                  <a:srgbClr val="B8A584"/>
                </a:solidFill>
                <a:latin typeface="Aptos"/>
              </a:rPr>
              <a:t>SEE THE STRUCTURE.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0706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D7AA58"/>
                </a:solidFill>
                <a:latin typeface="Aptos"/>
              </a:rPr>
              <a:t>12 • WHO THIS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6675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EFCA7C"/>
                </a:solidFill>
                <a:latin typeface="Georgia"/>
              </a:rPr>
              <a:t>Ambitious does not mean reckless.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B8A584"/>
                </a:solidFill>
                <a:latin typeface="Aptos"/>
              </a:rPr>
              <a:t>The best founding members will care about craft, discipline and contribution.</a:t>
            </a:r>
          </a:p>
        </p:txBody>
      </p:sp>
      <p:pic>
        <p:nvPicPr>
          <p:cNvPr id="6" name="Picture 5" descr="m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7696" y="18535"/>
            <a:ext cx="3313547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82880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FCA7C"/>
                </a:solidFill>
                <a:latin typeface="Aptos"/>
              </a:rPr>
              <a:t>YOU MAY BELONG HERE IF…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858000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4EBD9"/>
                </a:solidFill>
                <a:latin typeface="Aptos"/>
              </a:rPr>
              <a:t>✓ You want structure, not shortcuts.
✓ You are willing to study and practise.
✓ You can respect risk and uncertainty.
✓ You want to become independent.
✓ You value a high-standard community.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89204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FCA7C"/>
                </a:solidFill>
                <a:latin typeface="Aptos"/>
              </a:rPr>
              <a:t>THIS IS NOT FOR…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303520"/>
            <a:ext cx="6949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4EBD9"/>
                </a:solidFill>
                <a:latin typeface="Aptos"/>
              </a:rPr>
              <a:t>Guaranteed-return seekers • reckless risk-takers • anyone looking for overnight wealth.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9672"/>
            <a:ext cx="1828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50" b="1">
                <a:solidFill>
                  <a:srgbClr val="B8A584"/>
                </a:solidFill>
                <a:latin typeface="Aptos"/>
              </a:rPr>
              <a:t>THE 618 CIRCLE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6519672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550" b="1">
                <a:solidFill>
                  <a:srgbClr val="B8A584"/>
                </a:solidFill>
                <a:latin typeface="Aptos"/>
              </a:rPr>
              <a:t>SEE THE STRUCTURE.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0706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umm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0"/>
            <a:ext cx="560527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706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D7AA58"/>
                </a:solidFill>
                <a:latin typeface="Aptos"/>
              </a:rPr>
              <a:t>AN INVITATION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88720"/>
            <a:ext cx="53035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0">
                <a:solidFill>
                  <a:srgbClr val="EFCA7C"/>
                </a:solidFill>
                <a:latin typeface="Georgia"/>
              </a:rPr>
              <a:t>Become part of
the first 618.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97480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4EBD9"/>
                </a:solidFill>
                <a:latin typeface="Georgia"/>
              </a:rPr>
              <a:t>£461.80 /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337560"/>
            <a:ext cx="52120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4EBD9"/>
                </a:solidFill>
                <a:latin typeface="Aptos"/>
              </a:rPr>
              <a:t>Founding membership is an invitation to learn, contribute and help establish the culture of The 618 Circle from the beginning.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892040"/>
            <a:ext cx="3931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FCA7C"/>
                </a:solidFill>
                <a:latin typeface="Georgia"/>
              </a:rPr>
              <a:t>SEE THE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623560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B8A584"/>
                </a:solidFill>
                <a:latin typeface="Aptos"/>
              </a:rPr>
              <a:t>KNOWLEDGE  •  DISCIPLINE  •  FREEDOM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1123</Words>
  <Application>Microsoft Macintosh PowerPoint</Application>
  <PresentationFormat>Widescreen</PresentationFormat>
  <Paragraphs>191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Satvinder Chahal</cp:lastModifiedBy>
  <cp:revision>2</cp:revision>
  <dcterms:created xsi:type="dcterms:W3CDTF">2013-01-27T09:14:16Z</dcterms:created>
  <dcterms:modified xsi:type="dcterms:W3CDTF">2026-09-24T06:27:54Z</dcterms:modified>
  <cp:category/>
</cp:coreProperties>
</file>